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wdp" ContentType="image/vnd.ms-photo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7" r:id="rId12"/>
    <p:sldId id="266" r:id="rId13"/>
    <p:sldId id="268" r:id="rId1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E386EA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662185F-D9E4-41B2-99FF-BD3A38DB13DF}" v="50" dt="2026-06-19T03:22:11.871"/>
  </p1510:revLst>
</p1510:revInfo>
</file>

<file path=ppt/tableStyles.xml><?xml version="1.0" encoding="utf-8"?>
<a:tblStyleLst xmlns:a="http://schemas.openxmlformats.org/drawingml/2006/main" def="{5C22544A-7EE6-4342-B048-85BDC9FD1C3A}">
  <a:tblStyle styleId="{35758FB7-9AC5-4552-8A53-C91805E547FA}" styleName="Themed Style 1 - Accent 5">
    <a:tblBg>
      <a:fillRef idx="2">
        <a:schemeClr val="accent5"/>
      </a:fillRef>
      <a:effectRef idx="1">
        <a:schemeClr val="accent5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Ref idx="1">
              <a:schemeClr val="accent5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5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</a:tcBdr>
        <a:fill>
          <a:solidFill>
            <a:schemeClr val="accent5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5"/>
            </a:lnRef>
          </a:left>
          <a:right>
            <a:lnRef idx="2">
              <a:schemeClr val="accent5"/>
            </a:lnRef>
          </a:right>
          <a:top>
            <a:lnRef idx="1">
              <a:schemeClr val="accent5"/>
            </a:lnRef>
          </a:top>
          <a:bottom>
            <a:lnRef idx="1">
              <a:schemeClr val="accent5"/>
            </a:lnRef>
          </a:bottom>
          <a:insideH>
            <a:lnRef idx="1">
              <a:schemeClr val="accent5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2">
              <a:schemeClr val="accent5"/>
            </a:lnRef>
          </a:top>
          <a:bottom>
            <a:lnRef idx="2">
              <a:schemeClr val="accent5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5"/>
            </a:lnRef>
          </a:left>
          <a:right>
            <a:lnRef idx="1">
              <a:schemeClr val="accent5"/>
            </a:lnRef>
          </a:right>
          <a:top>
            <a:lnRef idx="1">
              <a:schemeClr val="accent5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5"/>
          </a:solidFill>
        </a:fill>
      </a:tcStyle>
    </a:firstRow>
  </a:tblStyle>
  <a:tblStyle styleId="{284E427A-3D55-4303-BF80-6455036E1DE7}" styleName="Themed Style 1 - Accent 2">
    <a:tblBg>
      <a:fillRef idx="2">
        <a:schemeClr val="accent2"/>
      </a:fillRef>
      <a:effectRef idx="1">
        <a:schemeClr val="accent2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Ref idx="1">
              <a:schemeClr val="accent2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</a:tcBdr>
        <a:fill>
          <a:solidFill>
            <a:schemeClr val="accent2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2"/>
            </a:lnRef>
          </a:left>
          <a:right>
            <a:lnRef idx="2">
              <a:schemeClr val="accent2"/>
            </a:lnRef>
          </a:right>
          <a:top>
            <a:lnRef idx="1">
              <a:schemeClr val="accent2"/>
            </a:lnRef>
          </a:top>
          <a:bottom>
            <a:lnRef idx="1">
              <a:schemeClr val="accent2"/>
            </a:lnRef>
          </a:bottom>
          <a:insideH>
            <a:lnRef idx="1">
              <a:schemeClr val="accent2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2">
              <a:schemeClr val="accent2"/>
            </a:lnRef>
          </a:top>
          <a:bottom>
            <a:lnRef idx="2">
              <a:schemeClr val="accent2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2"/>
            </a:lnRef>
          </a:left>
          <a:right>
            <a:lnRef idx="1">
              <a:schemeClr val="accent2"/>
            </a:lnRef>
          </a:right>
          <a:top>
            <a:lnRef idx="1">
              <a:schemeClr val="accent2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2"/>
          </a:solidFill>
        </a:fill>
      </a:tcStyle>
    </a:firstRow>
  </a:tblStyle>
  <a:tblStyle styleId="{69C7853C-536D-4A76-A0AE-DD22124D55A5}" styleName="Themed Style 1 - Accent 3">
    <a:tblBg>
      <a:fillRef idx="2">
        <a:schemeClr val="accent3"/>
      </a:fillRef>
      <a:effectRef idx="1">
        <a:schemeClr val="accent3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Ref idx="1">
              <a:schemeClr val="accent3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</a:tcBdr>
        <a:fill>
          <a:solidFill>
            <a:schemeClr val="accent3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3"/>
            </a:lnRef>
          </a:left>
          <a:right>
            <a:lnRef idx="2">
              <a:schemeClr val="accent3"/>
            </a:lnRef>
          </a:right>
          <a:top>
            <a:lnRef idx="1">
              <a:schemeClr val="accent3"/>
            </a:lnRef>
          </a:top>
          <a:bottom>
            <a:lnRef idx="1">
              <a:schemeClr val="accent3"/>
            </a:lnRef>
          </a:bottom>
          <a:insideH>
            <a:lnRef idx="1">
              <a:schemeClr val="accent3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2">
              <a:schemeClr val="accent3"/>
            </a:lnRef>
          </a:top>
          <a:bottom>
            <a:lnRef idx="2">
              <a:schemeClr val="accent3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3"/>
            </a:lnRef>
          </a:left>
          <a:right>
            <a:lnRef idx="1">
              <a:schemeClr val="accent3"/>
            </a:lnRef>
          </a:right>
          <a:top>
            <a:lnRef idx="1">
              <a:schemeClr val="accent3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3"/>
          </a:solidFill>
        </a:fill>
      </a:tcStyle>
    </a:firstRow>
  </a:tblStyle>
  <a:tblStyle styleId="{08FB837D-C827-4EFA-A057-4D05807E0F7C}" styleName="Themed Style 1 - Accent 6">
    <a:tblBg>
      <a:fillRef idx="2">
        <a:schemeClr val="accent6"/>
      </a:fillRef>
      <a:effectRef idx="1">
        <a:schemeClr val="accent6"/>
      </a:effectRef>
    </a:tblBg>
    <a:wholeTbl>
      <a:tcTxStyle>
        <a:fontRef idx="minor">
          <a:scrgbClr r="0" g="0" b="0"/>
        </a:fontRef>
        <a:schemeClr val="dk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Ref idx="1">
              <a:schemeClr val="accent6"/>
            </a:lnRef>
          </a:insideV>
        </a:tcBdr>
        <a:fill>
          <a:noFill/>
        </a:fill>
      </a:tcStyle>
    </a:wholeTbl>
    <a:band1H>
      <a:tcStyle>
        <a:tcBdr/>
        <a:fill>
          <a:solidFill>
            <a:schemeClr val="accent6">
              <a:alpha val="40000"/>
            </a:schemeClr>
          </a:solidFill>
        </a:fill>
      </a:tcStyle>
    </a:band1H>
    <a:band2H>
      <a:tcStyle>
        <a:tcBdr/>
      </a:tcStyle>
    </a:band2H>
    <a:band1V>
      <a:tcStyle>
        <a:tcBdr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</a:tcBdr>
        <a:fill>
          <a:solidFill>
            <a:schemeClr val="accent6">
              <a:alpha val="40000"/>
            </a:schemeClr>
          </a:solidFill>
        </a:fill>
      </a:tcStyle>
    </a:band1V>
    <a:band2V>
      <a:tcStyle>
        <a:tcBdr/>
      </a:tcStyle>
    </a:band2V>
    <a:lastCol>
      <a:tcTxStyle b="on"/>
      <a:tcStyle>
        <a:tcBdr>
          <a:left>
            <a:lnRef idx="2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lastCol>
    <a:firstCol>
      <a:tcTxStyle b="on"/>
      <a:tcStyle>
        <a:tcBdr>
          <a:left>
            <a:lnRef idx="1">
              <a:schemeClr val="accent6"/>
            </a:lnRef>
          </a:left>
          <a:right>
            <a:lnRef idx="2">
              <a:schemeClr val="accent6"/>
            </a:lnRef>
          </a:right>
          <a:top>
            <a:lnRef idx="1">
              <a:schemeClr val="accent6"/>
            </a:lnRef>
          </a:top>
          <a:bottom>
            <a:lnRef idx="1">
              <a:schemeClr val="accent6"/>
            </a:lnRef>
          </a:bottom>
          <a:insideH>
            <a:lnRef idx="1">
              <a:schemeClr val="accent6"/>
            </a:lnRef>
          </a:insideH>
          <a:insideV>
            <a:ln>
              <a:noFill/>
            </a:ln>
          </a:insideV>
        </a:tcBdr>
      </a:tcStyle>
    </a:firstCol>
    <a:lastRow>
      <a:tcTxStyle b="on"/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2">
              <a:schemeClr val="accent6"/>
            </a:lnRef>
          </a:top>
          <a:bottom>
            <a:lnRef idx="2">
              <a:schemeClr val="accent6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>
          <a:left>
            <a:lnRef idx="1">
              <a:schemeClr val="accent6"/>
            </a:lnRef>
          </a:left>
          <a:right>
            <a:lnRef idx="1">
              <a:schemeClr val="accent6"/>
            </a:lnRef>
          </a:right>
          <a:top>
            <a:lnRef idx="1">
              <a:schemeClr val="accent6"/>
            </a:lnRef>
          </a:top>
          <a:bottom>
            <a:lnRef idx="2">
              <a:schemeClr val="lt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solidFill>
            <a:schemeClr val="accent6"/>
          </a:solidFill>
        </a:fill>
      </a:tcStyle>
    </a:firstRow>
  </a:tblStyle>
  <a:tblStyle styleId="{18603FDC-E32A-4AB5-989C-0864C3EAD2B8}" styleName="Themed Style 2 - Accent 2">
    <a:tblBg>
      <a:fillRef idx="3">
        <a:schemeClr val="accent2"/>
      </a:fillRef>
      <a:effectRef idx="3">
        <a:schemeClr val="accent2"/>
      </a:effectRef>
    </a:tblBg>
    <a:wholeTbl>
      <a:tcTxStyle>
        <a:fontRef idx="minor">
          <a:scrgbClr r="0" g="0" b="0"/>
        </a:fontRef>
        <a:schemeClr val="lt1"/>
      </a:tcTxStyle>
      <a:tcStyle>
        <a:tcBdr>
          <a:left>
            <a:lnRef idx="1">
              <a:schemeClr val="accent2">
                <a:tint val="50000"/>
              </a:schemeClr>
            </a:lnRef>
          </a:left>
          <a:right>
            <a:lnRef idx="1">
              <a:schemeClr val="accent2">
                <a:tint val="50000"/>
              </a:schemeClr>
            </a:lnRef>
          </a:right>
          <a:top>
            <a:lnRef idx="1">
              <a:schemeClr val="accent2">
                <a:tint val="50000"/>
              </a:schemeClr>
            </a:lnRef>
          </a:top>
          <a:bottom>
            <a:lnRef idx="1">
              <a:schemeClr val="accent2">
                <a:tint val="50000"/>
              </a:schemeClr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lt1">
              <a:alpha val="20000"/>
            </a:schemeClr>
          </a:solidFill>
        </a:fill>
      </a:tcStyle>
    </a:band1H>
    <a:band1V>
      <a:tcStyle>
        <a:tcBdr/>
        <a:fill>
          <a:solidFill>
            <a:schemeClr val="lt1">
              <a:alpha val="20000"/>
            </a:schemeClr>
          </a:solidFill>
        </a:fill>
      </a:tcStyle>
    </a:band1V>
    <a:lastCol>
      <a:tcTxStyle b="on"/>
      <a:tcStyle>
        <a:tcBdr>
          <a:left>
            <a:lnRef idx="2">
              <a:schemeClr val="lt1"/>
            </a:lnRef>
          </a:left>
        </a:tcBdr>
      </a:tcStyle>
    </a:lastCol>
    <a:firstCol>
      <a:tcTxStyle b="on"/>
      <a:tcStyle>
        <a:tcBdr>
          <a:right>
            <a:lnRef idx="2">
              <a:schemeClr val="lt1"/>
            </a:lnRef>
          </a:right>
        </a:tcBdr>
      </a:tcStyle>
    </a:firstCol>
    <a:lastRow>
      <a:tcTxStyle b="on"/>
      <a:tcStyle>
        <a:tcBdr>
          <a:top>
            <a:lnRef idx="2">
              <a:schemeClr val="lt1"/>
            </a:lnRef>
          </a:top>
        </a:tcBdr>
        <a:fill>
          <a:noFill/>
        </a:fill>
      </a:tcStyle>
    </a:lastRow>
    <a:seCell>
      <a:tcStyle>
        <a:tcBdr>
          <a:left>
            <a:ln>
              <a:noFill/>
            </a:ln>
          </a:left>
          <a:top>
            <a:ln>
              <a:noFill/>
            </a:ln>
          </a:top>
        </a:tcBdr>
      </a:tcStyle>
    </a:seCell>
    <a:swCell>
      <a:tcStyle>
        <a:tcBdr>
          <a:right>
            <a:ln>
              <a:noFill/>
            </a:ln>
          </a:right>
          <a:top>
            <a:ln>
              <a:noFill/>
            </a:ln>
          </a:top>
        </a:tcBdr>
      </a:tcStyle>
    </a:swCell>
    <a:firstRow>
      <a:tcTxStyle b="on"/>
      <a:tcStyle>
        <a:tcBdr>
          <a:bottom>
            <a:lnRef idx="3">
              <a:schemeClr val="lt1"/>
            </a:lnRef>
          </a:bottom>
        </a:tcBdr>
        <a:fill>
          <a:noFill/>
        </a:fill>
      </a:tcStyle>
    </a:firstRow>
    <a:neCell>
      <a:tcStyle>
        <a:tcBdr>
          <a:bottom>
            <a:ln>
              <a:noFill/>
            </a:ln>
          </a:bottom>
        </a:tcBdr>
      </a:tcStyle>
    </a:ne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78" d="100"/>
          <a:sy n="78" d="100"/>
        </p:scale>
        <p:origin x="878" y="5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microsoft.com/office/2015/10/relationships/revisionInfo" Target="revisionInfo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IN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0239529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4683586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42350796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86984349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5443786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716806529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99348589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84242829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9099987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34488748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4969535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73190338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890683529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664210249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88829862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4210984769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270383157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1E43EF75-B36B-4FA5-BE57-9D351088F6AD}" type="datetimeFigureOut">
              <a:rPr lang="en-IN" smtClean="0"/>
              <a:t>19-06-2026</a:t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IN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89CB75D4-27BB-40B4-9E82-E7F91FDDFBF7}" type="slidenum">
              <a:rPr lang="en-IN" smtClean="0"/>
              <a:t>‹#›</a:t>
            </a:fld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22355439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  <p:sldLayoutId id="2147483674" r:id="rId14"/>
    <p:sldLayoutId id="2147483675" r:id="rId15"/>
    <p:sldLayoutId id="2147483676" r:id="rId16"/>
    <p:sldLayoutId id="2147483677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Relationship Id="rId4" Type="http://schemas.microsoft.com/office/2007/relationships/hdphoto" Target="../media/hdphoto1.wdp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7718F0D-023D-E808-E198-B0E78C92392B}"/>
              </a:ext>
            </a:extLst>
          </p:cNvPr>
          <p:cNvSpPr txBox="1"/>
          <p:nvPr/>
        </p:nvSpPr>
        <p:spPr>
          <a:xfrm>
            <a:off x="2305664" y="1947238"/>
            <a:ext cx="7580671" cy="1867533"/>
          </a:xfrm>
          <a:prstGeom prst="roundRect">
            <a:avLst/>
          </a:prstGeom>
          <a:ln/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Instagram Performance Analytics for Sugar Cosmetics</a:t>
            </a:r>
          </a:p>
          <a:p>
            <a:pPr>
              <a:lnSpc>
                <a:spcPct val="150000"/>
              </a:lnSpc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Subtitle:</a:t>
            </a:r>
            <a:b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Performance Analysis using </a:t>
            </a: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</a:t>
            </a:r>
            <a:endParaRPr lang="en-IN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B2C7ECFB-262E-CD2C-7D03-1393872CFCDE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08E5C9BF-ACFD-0019-897B-BC135918D00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8454049" y="5687500"/>
            <a:ext cx="3457499" cy="988604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57482199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9DF4D78-ECD3-3CDE-B9F8-5669023824DA}"/>
              </a:ext>
            </a:extLst>
          </p:cNvPr>
          <p:cNvSpPr txBox="1"/>
          <p:nvPr/>
        </p:nvSpPr>
        <p:spPr>
          <a:xfrm>
            <a:off x="1327354" y="1330220"/>
            <a:ext cx="10255045" cy="41975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Overview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This project </a:t>
            </a: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analyzes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Sugar Cosmetics’ Instagram performance using historical social media data to evaluate engagement, reach, content effectiveness, and campaign performance.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Domain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Digital Marketing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Social Media Analytics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Intelligence </a:t>
            </a:r>
          </a:p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Tools Used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Microsoft Excel</a:t>
            </a:r>
          </a:p>
        </p:txBody>
      </p:sp>
      <p:sp>
        <p:nvSpPr>
          <p:cNvPr id="4" name="Rectangle 3">
            <a:extLst>
              <a:ext uri="{FF2B5EF4-FFF2-40B4-BE49-F238E27FC236}">
                <a16:creationId xmlns:a16="http://schemas.microsoft.com/office/drawing/2014/main" id="{7D8E02BB-7871-B964-35E7-2510D555675F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4495EB8E-4118-13E1-0B9C-06B0E995796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607444000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CFBF016A-DDB2-D465-F76D-F5D2CEBF0AF0}"/>
              </a:ext>
            </a:extLst>
          </p:cNvPr>
          <p:cNvSpPr txBox="1"/>
          <p:nvPr/>
        </p:nvSpPr>
        <p:spPr>
          <a:xfrm>
            <a:off x="855406" y="267618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Project Objective</a:t>
            </a:r>
          </a:p>
        </p:txBody>
      </p:sp>
      <p:sp>
        <p:nvSpPr>
          <p:cNvPr id="5" name="Rectangle 4">
            <a:extLst>
              <a:ext uri="{FF2B5EF4-FFF2-40B4-BE49-F238E27FC236}">
                <a16:creationId xmlns:a16="http://schemas.microsoft.com/office/drawing/2014/main" id="{2A8A2042-96C1-A632-55F4-CF9F8C83F55F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CD44B362-38D1-A8BC-44D5-104E55A68AF1}"/>
              </a:ext>
            </a:extLst>
          </p:cNvPr>
          <p:cNvSpPr txBox="1"/>
          <p:nvPr/>
        </p:nvSpPr>
        <p:spPr>
          <a:xfrm>
            <a:off x="1479755" y="1537969"/>
            <a:ext cx="6125496" cy="253556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 Objective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Analyze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Instagram performance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Measure KPIs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Identify top-performing content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Understand audience engagement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social media ROI 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63836019-9F9E-69D4-1B84-6CCA48576918}"/>
              </a:ext>
            </a:extLst>
          </p:cNvPr>
          <p:cNvSpPr txBox="1"/>
          <p:nvPr/>
        </p:nvSpPr>
        <p:spPr>
          <a:xfrm>
            <a:off x="5776452" y="2002794"/>
            <a:ext cx="6125496" cy="1426206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Goal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Provide actionable insights to optimize content strategy and engagement.</a:t>
            </a:r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8970AE29-967B-37EE-0F7B-CFFE0643A954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37438783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3799C1C5-B1E4-890F-8C9B-7C3DBF511833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C7EF204-63BB-2908-E836-23B4557B86B5}"/>
              </a:ext>
            </a:extLst>
          </p:cNvPr>
          <p:cNvSpPr txBox="1"/>
          <p:nvPr/>
        </p:nvSpPr>
        <p:spPr>
          <a:xfrm>
            <a:off x="575188" y="120133"/>
            <a:ext cx="612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&amp; Methodology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DF85871-505B-47C2-8E31-A5B447D48C78}"/>
              </a:ext>
            </a:extLst>
          </p:cNvPr>
          <p:cNvSpPr txBox="1"/>
          <p:nvPr/>
        </p:nvSpPr>
        <p:spPr>
          <a:xfrm>
            <a:off x="575188" y="967062"/>
            <a:ext cx="3515032" cy="461305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Dataset Includes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Date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 Type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Likes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Reach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Impressions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Hashtags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 Type 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D2581D6F-7FDA-DC25-4DA6-B660652C137E}"/>
              </a:ext>
            </a:extLst>
          </p:cNvPr>
          <p:cNvSpPr txBox="1"/>
          <p:nvPr/>
        </p:nvSpPr>
        <p:spPr>
          <a:xfrm>
            <a:off x="4980039" y="2213557"/>
            <a:ext cx="4478593" cy="234560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Data Cleaning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Calculation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Tableau Dashboard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Business Insight Generation </a:t>
            </a:r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5A9E1BEE-F102-81F1-F1C9-CE68FFEF8A5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0545076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560D1171-99F6-C2F4-AFC8-225B3A19B09D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839A7E46-B4E9-DC4E-D4EE-21B894665FC1}"/>
              </a:ext>
            </a:extLst>
          </p:cNvPr>
          <p:cNvSpPr txBox="1"/>
          <p:nvPr/>
        </p:nvSpPr>
        <p:spPr>
          <a:xfrm>
            <a:off x="437535" y="218456"/>
            <a:ext cx="6125496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KPI Overview</a:t>
            </a:r>
          </a:p>
        </p:txBody>
      </p:sp>
      <p:graphicFrame>
        <p:nvGraphicFramePr>
          <p:cNvPr id="5" name="Table 4">
            <a:extLst>
              <a:ext uri="{FF2B5EF4-FFF2-40B4-BE49-F238E27FC236}">
                <a16:creationId xmlns:a16="http://schemas.microsoft.com/office/drawing/2014/main" id="{7D1AAFFD-68CF-25CB-7ED7-BB3F8DBDC07A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28617236"/>
              </p:ext>
            </p:extLst>
          </p:nvPr>
        </p:nvGraphicFramePr>
        <p:xfrm>
          <a:off x="2536723" y="1144039"/>
          <a:ext cx="6204156" cy="2194560"/>
        </p:xfrm>
        <a:graphic>
          <a:graphicData uri="http://schemas.openxmlformats.org/drawingml/2006/table">
            <a:tbl>
              <a:tblPr>
                <a:tableStyleId>{18603FDC-E32A-4AB5-989C-0864C3EAD2B8}</a:tableStyleId>
              </a:tblPr>
              <a:tblGrid>
                <a:gridCol w="3102078">
                  <a:extLst>
                    <a:ext uri="{9D8B030D-6E8A-4147-A177-3AD203B41FA5}">
                      <a16:colId xmlns:a16="http://schemas.microsoft.com/office/drawing/2014/main" val="620691974"/>
                    </a:ext>
                  </a:extLst>
                </a:gridCol>
                <a:gridCol w="3102078">
                  <a:extLst>
                    <a:ext uri="{9D8B030D-6E8A-4147-A177-3AD203B41FA5}">
                      <a16:colId xmlns:a16="http://schemas.microsoft.com/office/drawing/2014/main" val="1030229712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KPI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Value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70869916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Posts</a:t>
                      </a:r>
                    </a:p>
                  </a:txBody>
                  <a:tcPr anchor="ctr"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50K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100338222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Likes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147.7M</a:t>
                      </a:r>
                    </a:p>
                  </a:txBody>
                  <a:tcPr anchor="ctr">
                    <a:lnL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L>
                  </a:tcPr>
                </a:tc>
                <a:extLst>
                  <a:ext uri="{0D108BD9-81ED-4DB2-BD59-A6C34878D82A}">
                    <a16:rowId xmlns:a16="http://schemas.microsoft.com/office/drawing/2014/main" val="2104071577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Comments</a:t>
                      </a:r>
                    </a:p>
                  </a:txBody>
                  <a:tcPr anchor="ctr"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</a:tcPr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18.46M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4057032120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Reach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987.4M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361985512"/>
                  </a:ext>
                </a:extLst>
              </a:tr>
              <a:tr h="0"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Engagement</a:t>
                      </a:r>
                    </a:p>
                  </a:txBody>
                  <a:tcPr anchor="ctr"/>
                </a:tc>
                <a:tc>
                  <a:txBody>
                    <a:bodyPr/>
                    <a:lstStyle/>
                    <a:p>
                      <a:pPr>
                        <a:buNone/>
                      </a:pPr>
                      <a:r>
                        <a:rPr lang="en-IN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18.54%</a:t>
                      </a:r>
                    </a:p>
                  </a:txBody>
                  <a:tcPr anchor="ctr"/>
                </a:tc>
                <a:extLst>
                  <a:ext uri="{0D108BD9-81ED-4DB2-BD59-A6C34878D82A}">
                    <a16:rowId xmlns:a16="http://schemas.microsoft.com/office/drawing/2014/main" val="3119508636"/>
                  </a:ext>
                </a:extLst>
              </a:tr>
            </a:tbl>
          </a:graphicData>
        </a:graphic>
      </p:graphicFrame>
      <p:sp>
        <p:nvSpPr>
          <p:cNvPr id="9" name="TextBox 8">
            <a:extLst>
              <a:ext uri="{FF2B5EF4-FFF2-40B4-BE49-F238E27FC236}">
                <a16:creationId xmlns:a16="http://schemas.microsoft.com/office/drawing/2014/main" id="{7FB7DB30-7142-4437-1400-F6A046E1CB1A}"/>
              </a:ext>
            </a:extLst>
          </p:cNvPr>
          <p:cNvSpPr txBox="1"/>
          <p:nvPr/>
        </p:nvSpPr>
        <p:spPr>
          <a:xfrm>
            <a:off x="2568679" y="3635843"/>
            <a:ext cx="6140244" cy="25355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visibility and engagement.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 reach may not convert into deeper interactions.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comment/share CTAs.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63C0B9A7-E49B-D014-4BE1-AD667DE96E3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90193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Rectangle 2">
            <a:extLst>
              <a:ext uri="{FF2B5EF4-FFF2-40B4-BE49-F238E27FC236}">
                <a16:creationId xmlns:a16="http://schemas.microsoft.com/office/drawing/2014/main" id="{D9808F71-8303-5EFA-328A-294412DB1051}"/>
              </a:ext>
            </a:extLst>
          </p:cNvPr>
          <p:cNvSpPr/>
          <p:nvPr/>
        </p:nvSpPr>
        <p:spPr>
          <a:xfrm>
            <a:off x="0" y="0"/>
            <a:ext cx="245806" cy="6858000"/>
          </a:xfrm>
          <a:prstGeom prst="rect">
            <a:avLst/>
          </a:prstGeom>
        </p:spPr>
        <p:style>
          <a:lnRef idx="0">
            <a:schemeClr val="accent3"/>
          </a:lnRef>
          <a:fillRef idx="3">
            <a:schemeClr val="accent3"/>
          </a:fillRef>
          <a:effectRef idx="3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2DDF4586-2522-2582-BB72-FED847CCA1DA}"/>
              </a:ext>
            </a:extLst>
          </p:cNvPr>
          <p:cNvSpPr txBox="1"/>
          <p:nvPr/>
        </p:nvSpPr>
        <p:spPr>
          <a:xfrm>
            <a:off x="857866" y="238121"/>
            <a:ext cx="614024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2: Monthly Posting Trend</a:t>
            </a: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4048A56-2936-8692-B35B-D8BDC82A9879}"/>
              </a:ext>
            </a:extLst>
          </p:cNvPr>
          <p:cNvSpPr txBox="1"/>
          <p:nvPr/>
        </p:nvSpPr>
        <p:spPr>
          <a:xfrm>
            <a:off x="3597379" y="1232013"/>
            <a:ext cx="3832121" cy="1704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Consistent posting across months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Peak: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Dec 2024 (4296 posts)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Lowest: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Apr 2025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34F105B2-BF0C-7697-1F46-A901C9EB48DC}"/>
              </a:ext>
            </a:extLst>
          </p:cNvPr>
          <p:cNvSpPr txBox="1"/>
          <p:nvPr/>
        </p:nvSpPr>
        <p:spPr>
          <a:xfrm>
            <a:off x="3008056" y="3429000"/>
            <a:ext cx="5010765" cy="280530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Festive campaigns increased activity.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Low posting months reduce reach.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Maintain monthly content calendar.</a:t>
            </a:r>
          </a:p>
        </p:txBody>
      </p:sp>
      <p:pic>
        <p:nvPicPr>
          <p:cNvPr id="12" name="Picture 11">
            <a:extLst>
              <a:ext uri="{FF2B5EF4-FFF2-40B4-BE49-F238E27FC236}">
                <a16:creationId xmlns:a16="http://schemas.microsoft.com/office/drawing/2014/main" id="{5558E4BB-A824-BAAB-FD55-D47A14D1032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1942676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B52B502-253D-43A4-D294-950AF2A2425B}"/>
              </a:ext>
            </a:extLst>
          </p:cNvPr>
          <p:cNvSpPr txBox="1"/>
          <p:nvPr/>
        </p:nvSpPr>
        <p:spPr>
          <a:xfrm>
            <a:off x="127819" y="2381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3: Top 10 Posts by Likes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D06C4CED-7FBE-4BA7-79C2-5D6A9A2DDF30}"/>
              </a:ext>
            </a:extLst>
          </p:cNvPr>
          <p:cNvSpPr txBox="1"/>
          <p:nvPr/>
        </p:nvSpPr>
        <p:spPr>
          <a:xfrm>
            <a:off x="609600" y="2240510"/>
            <a:ext cx="4149213" cy="2120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Performing Content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Influencer Collaborations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Giveaways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Reels </a:t>
            </a:r>
          </a:p>
          <a:p>
            <a:pPr>
              <a:lnSpc>
                <a:spcPct val="150000"/>
              </a:lnSpc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likes: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11,392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9BE39498-BA27-91FC-836B-ECB414AB74C9}"/>
              </a:ext>
            </a:extLst>
          </p:cNvPr>
          <p:cNvSpPr txBox="1"/>
          <p:nvPr/>
        </p:nvSpPr>
        <p:spPr>
          <a:xfrm>
            <a:off x="5004618" y="1888058"/>
            <a:ext cx="6096000" cy="280530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Influencer-driven content boosts visibility.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Overdependence on influencers.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Balance promotional + organic content.</a:t>
            </a:r>
          </a:p>
        </p:txBody>
      </p:sp>
      <p:pic>
        <p:nvPicPr>
          <p:cNvPr id="11" name="Picture 10">
            <a:extLst>
              <a:ext uri="{FF2B5EF4-FFF2-40B4-BE49-F238E27FC236}">
                <a16:creationId xmlns:a16="http://schemas.microsoft.com/office/drawing/2014/main" id="{BB272900-9F05-FCF2-DBCD-D6C9622EA5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9534945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557F1D45-62C4-3086-C303-3D7C16A18201}"/>
              </a:ext>
            </a:extLst>
          </p:cNvPr>
          <p:cNvSpPr txBox="1"/>
          <p:nvPr/>
        </p:nvSpPr>
        <p:spPr>
          <a:xfrm>
            <a:off x="196645" y="267617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4: Top 10 Posts by Engagement Rate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A48C892-2188-271B-0FD2-296BDBA0C221}"/>
              </a:ext>
            </a:extLst>
          </p:cNvPr>
          <p:cNvSpPr txBox="1"/>
          <p:nvPr/>
        </p:nvSpPr>
        <p:spPr>
          <a:xfrm>
            <a:off x="2585884" y="1238861"/>
            <a:ext cx="6096000" cy="2120068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Highest Engagement Post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Date: 05-Apr-2025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Type: Image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Campaign: Influencer Collab </a:t>
            </a:r>
          </a:p>
          <a:p>
            <a:pPr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Engagement Rate: </a:t>
            </a: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34.10%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867F66B-DCD4-9EF4-4975-87A152E88DFD}"/>
              </a:ext>
            </a:extLst>
          </p:cNvPr>
          <p:cNvSpPr txBox="1"/>
          <p:nvPr/>
        </p:nvSpPr>
        <p:spPr>
          <a:xfrm>
            <a:off x="2585884" y="3783327"/>
            <a:ext cx="6096000" cy="280530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Small reach + high interaction = loyal audience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Niche audience may limit scaling.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Replicate high-engagement niche content.</a:t>
            </a:r>
          </a:p>
        </p:txBody>
      </p:sp>
      <p:pic>
        <p:nvPicPr>
          <p:cNvPr id="13" name="Picture 12">
            <a:extLst>
              <a:ext uri="{FF2B5EF4-FFF2-40B4-BE49-F238E27FC236}">
                <a16:creationId xmlns:a16="http://schemas.microsoft.com/office/drawing/2014/main" id="{5AB2D1CC-3906-31F3-2871-70C1A486CC20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598268194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568CFCF-ABE4-016F-E8FB-FF1F9DE8813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82467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6E4FC18C-53DF-0C08-7C06-98190919E40E}"/>
              </a:ext>
            </a:extLst>
          </p:cNvPr>
          <p:cNvSpPr txBox="1"/>
          <p:nvPr/>
        </p:nvSpPr>
        <p:spPr>
          <a:xfrm>
            <a:off x="231058" y="228288"/>
            <a:ext cx="624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5: Post Type Performance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7079CE07-BF43-E460-5377-E715338FC9E9}"/>
              </a:ext>
            </a:extLst>
          </p:cNvPr>
          <p:cNvSpPr txBox="1"/>
          <p:nvPr/>
        </p:nvSpPr>
        <p:spPr>
          <a:xfrm>
            <a:off x="506362" y="1932531"/>
            <a:ext cx="3072581" cy="3366563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format:</a:t>
            </a:r>
            <a:b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🏆 Stories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Performance order: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Story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Reel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Image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Video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3E1E03-F42B-4EAE-8C19-02BFFCC701B8}"/>
              </a:ext>
            </a:extLst>
          </p:cNvPr>
          <p:cNvSpPr txBox="1"/>
          <p:nvPr/>
        </p:nvSpPr>
        <p:spPr>
          <a:xfrm>
            <a:off x="4350774" y="1330219"/>
            <a:ext cx="6243484" cy="4644108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Stories drive better engagement.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Overusing one format reduces freshness.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content mix strategy: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Stories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30% Reels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Images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10% Videos</a:t>
            </a:r>
          </a:p>
        </p:txBody>
      </p:sp>
    </p:spTree>
    <p:extLst>
      <p:ext uri="{BB962C8B-B14F-4D97-AF65-F5344CB8AC3E}">
        <p14:creationId xmlns:p14="http://schemas.microsoft.com/office/powerpoint/2010/main" val="3649777326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ACB5E381-0FF2-0CE5-E5A9-435B6C9B6AD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CEA27E23-C2B2-E0DE-86AE-4C3B980D3C0C}"/>
              </a:ext>
            </a:extLst>
          </p:cNvPr>
          <p:cNvSpPr txBox="1"/>
          <p:nvPr/>
        </p:nvSpPr>
        <p:spPr>
          <a:xfrm>
            <a:off x="349045" y="267618"/>
            <a:ext cx="624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6: Day of Week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8C1CCB3-1140-D3C4-BE75-F4A8C61B0CFB}"/>
              </a:ext>
            </a:extLst>
          </p:cNvPr>
          <p:cNvSpPr txBox="1"/>
          <p:nvPr/>
        </p:nvSpPr>
        <p:spPr>
          <a:xfrm>
            <a:off x="1391264" y="2446140"/>
            <a:ext cx="2472813" cy="2535566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Days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Wednesday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Friday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Saturday 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Weakest: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Sunday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EAC9AC3E-205E-F1C7-BA32-D3DE9B003451}"/>
              </a:ext>
            </a:extLst>
          </p:cNvPr>
          <p:cNvSpPr txBox="1"/>
          <p:nvPr/>
        </p:nvSpPr>
        <p:spPr>
          <a:xfrm>
            <a:off x="4399935" y="2367482"/>
            <a:ext cx="6243484" cy="2805307"/>
          </a:xfrm>
          <a:prstGeom prst="round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Timing impacts engagement.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Posting on weak days lowers visibility.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Schedule premium posts on best days.</a:t>
            </a:r>
          </a:p>
        </p:txBody>
      </p:sp>
    </p:spTree>
    <p:extLst>
      <p:ext uri="{BB962C8B-B14F-4D97-AF65-F5344CB8AC3E}">
        <p14:creationId xmlns:p14="http://schemas.microsoft.com/office/powerpoint/2010/main" val="232316631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F642036F-E1BD-8F10-C99F-E41E97B7872E}"/>
              </a:ext>
            </a:extLst>
          </p:cNvPr>
          <p:cNvSpPr txBox="1"/>
          <p:nvPr/>
        </p:nvSpPr>
        <p:spPr>
          <a:xfrm>
            <a:off x="167148" y="238120"/>
            <a:ext cx="6096000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7: Engagement Funnel</a:t>
            </a: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8CBC521F-4822-EDB3-E5DA-42FF92CD63F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pic>
        <p:nvPicPr>
          <p:cNvPr id="18" name="Picture 17">
            <a:extLst>
              <a:ext uri="{FF2B5EF4-FFF2-40B4-BE49-F238E27FC236}">
                <a16:creationId xmlns:a16="http://schemas.microsoft.com/office/drawing/2014/main" id="{B189A638-3B30-41BF-DF4E-D9C2954A9ED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aturation sat="40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2787" y="1846006"/>
            <a:ext cx="4650658" cy="2536723"/>
          </a:xfrm>
          <a:prstGeom prst="rect">
            <a:avLst/>
          </a:prstGeom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id="{DFA03AFC-2620-79B0-A07C-FF6BBC091975}"/>
              </a:ext>
            </a:extLst>
          </p:cNvPr>
          <p:cNvSpPr txBox="1"/>
          <p:nvPr/>
        </p:nvSpPr>
        <p:spPr>
          <a:xfrm>
            <a:off x="5525729" y="1342384"/>
            <a:ext cx="6243484" cy="378206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Strong awareness but weaker deeper engagement.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Passive audience limits growth.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interactive CTAs: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Comment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Share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Save</a:t>
            </a:r>
          </a:p>
        </p:txBody>
      </p:sp>
      <p:sp>
        <p:nvSpPr>
          <p:cNvPr id="22" name="TextBox 21">
            <a:extLst>
              <a:ext uri="{FF2B5EF4-FFF2-40B4-BE49-F238E27FC236}">
                <a16:creationId xmlns:a16="http://schemas.microsoft.com/office/drawing/2014/main" id="{3DA0420E-4E17-2780-BED3-721647763600}"/>
              </a:ext>
            </a:extLst>
          </p:cNvPr>
          <p:cNvSpPr txBox="1"/>
          <p:nvPr/>
        </p:nvSpPr>
        <p:spPr>
          <a:xfrm>
            <a:off x="2177845" y="1398919"/>
            <a:ext cx="6243484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Funnel</a:t>
            </a:r>
          </a:p>
        </p:txBody>
      </p:sp>
    </p:spTree>
    <p:extLst>
      <p:ext uri="{BB962C8B-B14F-4D97-AF65-F5344CB8AC3E}">
        <p14:creationId xmlns:p14="http://schemas.microsoft.com/office/powerpoint/2010/main" val="1174688333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F17B0C-9F94-ACB0-D072-5B5CB5C7E8E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918C2C7A-6071-2BA4-A532-D938B2A1597E}"/>
              </a:ext>
            </a:extLst>
          </p:cNvPr>
          <p:cNvSpPr txBox="1"/>
          <p:nvPr/>
        </p:nvSpPr>
        <p:spPr>
          <a:xfrm>
            <a:off x="231058" y="297114"/>
            <a:ext cx="624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Task 8: Hashtag Analysis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44CE6B2F-8946-50E3-D2B3-9FAEDE8D8FD2}"/>
              </a:ext>
            </a:extLst>
          </p:cNvPr>
          <p:cNvSpPr txBox="1"/>
          <p:nvPr/>
        </p:nvSpPr>
        <p:spPr>
          <a:xfrm>
            <a:off x="978310" y="2310184"/>
            <a:ext cx="2669458" cy="120032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Best Hashtags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#BoldLooks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#CrueltyFree </a:t>
            </a:r>
          </a:p>
          <a:p>
            <a:pPr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#VeganBeauty</a:t>
            </a: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B43B1761-348A-2079-E570-3F5A560ABB7A}"/>
              </a:ext>
            </a:extLst>
          </p:cNvPr>
          <p:cNvSpPr txBox="1"/>
          <p:nvPr/>
        </p:nvSpPr>
        <p:spPr>
          <a:xfrm>
            <a:off x="4193458" y="1537969"/>
            <a:ext cx="6243484" cy="3782061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Insight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Ethical beauty messaging performs strongly.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Risk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Repeated hashtags reduce discoverability.</a:t>
            </a:r>
          </a:p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Action</a:t>
            </a:r>
          </a:p>
          <a:p>
            <a:pPr>
              <a:lnSpc>
                <a:spcPct val="150000"/>
              </a:lnSpc>
              <a:buNone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Use mix: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branded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40% niche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20% trending</a:t>
            </a:r>
          </a:p>
        </p:txBody>
      </p:sp>
    </p:spTree>
    <p:extLst>
      <p:ext uri="{BB962C8B-B14F-4D97-AF65-F5344CB8AC3E}">
        <p14:creationId xmlns:p14="http://schemas.microsoft.com/office/powerpoint/2010/main" val="4044986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8E6D3D62-6FCE-5427-7DA5-2A27226A6BE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358617" y="5962803"/>
            <a:ext cx="2735061" cy="782037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355D04C-F586-AB3B-1EBB-15F8BB0BB05F}"/>
              </a:ext>
            </a:extLst>
          </p:cNvPr>
          <p:cNvSpPr txBox="1"/>
          <p:nvPr/>
        </p:nvSpPr>
        <p:spPr>
          <a:xfrm>
            <a:off x="270387" y="228288"/>
            <a:ext cx="6243484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4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Strategic Recommendations</a:t>
            </a: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1F717F39-92DE-786C-BA16-1A4C1EB4952B}"/>
              </a:ext>
            </a:extLst>
          </p:cNvPr>
          <p:cNvSpPr txBox="1"/>
          <p:nvPr/>
        </p:nvSpPr>
        <p:spPr>
          <a:xfrm>
            <a:off x="762000" y="2211861"/>
            <a:ext cx="3465871" cy="1704569"/>
          </a:xfrm>
          <a:prstGeom prst="rect">
            <a:avLst/>
          </a:prstGeom>
        </p:spPr>
        <p:style>
          <a:lnRef idx="2">
            <a:schemeClr val="accent1"/>
          </a:lnRef>
          <a:fillRef idx="1">
            <a:schemeClr val="lt1"/>
          </a:fillRef>
          <a:effectRef idx="0">
            <a:schemeClr val="accent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>
                <a:latin typeface="Times New Roman" panose="02020603050405020304" pitchFamily="18" charset="0"/>
                <a:cs typeface="Times New Roman" panose="02020603050405020304" pitchFamily="18" charset="0"/>
              </a:rPr>
              <a:t>Growth Drivers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Influencer marketing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Story content </a:t>
            </a:r>
          </a:p>
          <a:p>
            <a:pPr>
              <a:lnSpc>
                <a:spcPct val="150000"/>
              </a:lnSpc>
              <a:buFont typeface="+mj-lt"/>
              <a:buAutoNum type="arabicPeriod"/>
            </a:pPr>
            <a:r>
              <a:rPr lang="en-IN">
                <a:latin typeface="Times New Roman" panose="02020603050405020304" pitchFamily="18" charset="0"/>
                <a:cs typeface="Times New Roman" panose="02020603050405020304" pitchFamily="18" charset="0"/>
              </a:rPr>
              <a:t>Ethical beauty branding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DBDFBA75-CFD5-CB21-C5C8-CEDB352E9638}"/>
              </a:ext>
            </a:extLst>
          </p:cNvPr>
          <p:cNvSpPr txBox="1"/>
          <p:nvPr/>
        </p:nvSpPr>
        <p:spPr>
          <a:xfrm>
            <a:off x="4822721" y="2005553"/>
            <a:ext cx="3977149" cy="2117183"/>
          </a:xfrm>
          <a:prstGeom prst="rect">
            <a:avLst/>
          </a:prstGeom>
        </p:spPr>
        <p:style>
          <a:lnRef idx="1">
            <a:schemeClr val="accent2"/>
          </a:lnRef>
          <a:fillRef idx="3">
            <a:schemeClr val="accent2"/>
          </a:fillRef>
          <a:effectRef idx="2">
            <a:schemeClr val="accent2"/>
          </a:effectRef>
          <a:fontRef idx="minor">
            <a:schemeClr val="lt1"/>
          </a:fontRef>
        </p:style>
        <p:txBody>
          <a:bodyPr wrap="square">
            <a:spAutoFit/>
          </a:bodyPr>
          <a:lstStyle/>
          <a:p>
            <a:pPr>
              <a:lnSpc>
                <a:spcPct val="150000"/>
              </a:lnSpc>
              <a:buNone/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Recommended Strategies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Increase creator collaborations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Improve story engagement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Launch interactive campaigns </a:t>
            </a:r>
          </a:p>
          <a:p>
            <a:pPr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Optimize posting schedule</a:t>
            </a:r>
          </a:p>
        </p:txBody>
      </p:sp>
    </p:spTree>
    <p:extLst>
      <p:ext uri="{BB962C8B-B14F-4D97-AF65-F5344CB8AC3E}">
        <p14:creationId xmlns:p14="http://schemas.microsoft.com/office/powerpoint/2010/main" val="2481900851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Yellow Orange">
      <a:dk1>
        <a:sysClr val="windowText" lastClr="000000"/>
      </a:dk1>
      <a:lt1>
        <a:sysClr val="window" lastClr="FFFFFF"/>
      </a:lt1>
      <a:dk2>
        <a:srgbClr val="4E3B30"/>
      </a:dk2>
      <a:lt2>
        <a:srgbClr val="FBEEC9"/>
      </a:lt2>
      <a:accent1>
        <a:srgbClr val="F0A22E"/>
      </a:accent1>
      <a:accent2>
        <a:srgbClr val="A5644E"/>
      </a:accent2>
      <a:accent3>
        <a:srgbClr val="B58B80"/>
      </a:accent3>
      <a:accent4>
        <a:srgbClr val="C3986D"/>
      </a:accent4>
      <a:accent5>
        <a:srgbClr val="A19574"/>
      </a:accent5>
      <a:accent6>
        <a:srgbClr val="C17529"/>
      </a:accent6>
      <a:hlink>
        <a:srgbClr val="AD1F1F"/>
      </a:hlink>
      <a:folHlink>
        <a:srgbClr val="FFC42F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Ion Boardroom</Template>
  <TotalTime>309</TotalTime>
  <Words>467</Words>
  <Application>Microsoft Office PowerPoint</Application>
  <PresentationFormat>Widescreen</PresentationFormat>
  <Paragraphs>157</Paragraphs>
  <Slides>13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8" baseType="lpstr">
      <vt:lpstr>Arial</vt:lpstr>
      <vt:lpstr>Century Gothic</vt:lpstr>
      <vt:lpstr>Times New Roman</vt:lpstr>
      <vt:lpstr>Wingdings 3</vt:lpstr>
      <vt:lpstr>Ion Boardroom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Prasanna Kumar</dc:creator>
  <cp:lastModifiedBy>Prasanna Kumar</cp:lastModifiedBy>
  <cp:revision>2</cp:revision>
  <dcterms:created xsi:type="dcterms:W3CDTF">2026-06-18T06:12:47Z</dcterms:created>
  <dcterms:modified xsi:type="dcterms:W3CDTF">2026-06-19T03:23:28Z</dcterms:modified>
</cp:coreProperties>
</file>